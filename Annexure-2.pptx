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341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152"/>
        <p:guide pos="2880"/>
        <p:guide orient="horz" pos="341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61" name="Google Shape;61;p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73" name="Google Shape;73;p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2339eb39d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2339eb39d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type="body" idx="1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118745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Char char="•"/>
              <a:defRPr/>
            </a:lvl1pPr>
            <a:lvl2pPr marL="914400" lvl="1" indent="-10668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SzPts val="13200"/>
              <a:buChar char="–"/>
              <a:defRPr/>
            </a:lvl2pPr>
            <a:lvl3pPr marL="1371600" lvl="2" indent="-94615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SzPts val="11300"/>
              <a:buChar char="•"/>
              <a:defRPr/>
            </a:lvl3pPr>
            <a:lvl4pPr marL="1828800" lvl="3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–"/>
              <a:defRPr/>
            </a:lvl4pPr>
            <a:lvl5pPr marL="2286000" lvl="4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»"/>
              <a:defRPr/>
            </a:lvl5pPr>
            <a:lvl6pPr marL="2743200" lvl="5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6pPr>
            <a:lvl7pPr marL="3200400" lvl="6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7pPr>
            <a:lvl8pPr marL="3657600" lvl="7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8pPr>
            <a:lvl9pPr marL="4114800" lvl="8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type="body" idx="1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10668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marL="914400" lvl="1" indent="-94615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marL="1371600" lvl="2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marL="1828800" lvl="3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marL="2286000" lvl="4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marL="2743200" lvl="5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marL="3200400" lvl="6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marL="3657600" lvl="7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marL="4114800" lvl="8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0" name="Google Shape;20;p21"/>
          <p:cNvSpPr txBox="1"/>
          <p:nvPr>
            <p:ph type="body" idx="2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10668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marL="914400" lvl="1" indent="-94615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marL="1371600" lvl="2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marL="1828800" lvl="3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marL="2286000" lvl="4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marL="2743200" lvl="5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marL="3200400" lvl="6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marL="3657600" lvl="7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marL="4114800" lvl="8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1" name="Google Shape;21;p21"/>
          <p:cNvSpPr txBox="1"/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type="body" idx="1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sz="2500" b="1"/>
            </a:lvl1pPr>
            <a:lvl2pPr marL="914400" lvl="1" indent="-2286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sz="2100" b="1"/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1900" b="1"/>
            </a:lvl3pPr>
            <a:lvl4pPr marL="1828800" lvl="3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9pPr>
          </a:lstStyle>
          <a:p/>
        </p:txBody>
      </p:sp>
      <p:sp>
        <p:nvSpPr>
          <p:cNvPr id="27" name="Google Shape;27;p22"/>
          <p:cNvSpPr txBox="1"/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94615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marL="914400" lvl="1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marL="1371600" lvl="2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marL="1828800" lvl="3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marL="2286000" lvl="4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marL="2743200" lvl="5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marL="3200400" lvl="6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marL="3657600" lvl="7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marL="4114800" lvl="8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28" name="Google Shape;28;p22"/>
          <p:cNvSpPr txBox="1"/>
          <p:nvPr>
            <p:ph type="body" idx="3"/>
          </p:nvPr>
        </p:nvSpPr>
        <p:spPr>
          <a:xfrm>
            <a:off x="4645026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sz="2500" b="1"/>
            </a:lvl1pPr>
            <a:lvl2pPr marL="914400" lvl="1" indent="-2286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sz="2100" b="1"/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1900" b="1"/>
            </a:lvl3pPr>
            <a:lvl4pPr marL="1828800" lvl="3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9pPr>
          </a:lstStyle>
          <a:p/>
        </p:txBody>
      </p:sp>
      <p:sp>
        <p:nvSpPr>
          <p:cNvPr id="29" name="Google Shape;29;p22"/>
          <p:cNvSpPr txBox="1"/>
          <p:nvPr>
            <p:ph type="body" idx="4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94615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marL="914400" lvl="1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marL="1371600" lvl="2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marL="1828800" lvl="3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marL="2286000" lvl="4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marL="2743200" lvl="5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marL="3200400" lvl="6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marL="3657600" lvl="7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marL="4114800" lvl="8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30" name="Google Shape;30;p22"/>
          <p:cNvSpPr txBox="1"/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2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 panose="020F0502020204030204"/>
              <a:buNone/>
              <a:defRPr sz="21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type="body" idx="1"/>
          </p:nvPr>
        </p:nvSpPr>
        <p:spPr>
          <a:xfrm>
            <a:off x="3575051" y="204789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118745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3300"/>
            </a:lvl1pPr>
            <a:lvl2pPr marL="914400" lvl="1" indent="-10668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2900"/>
            </a:lvl2pPr>
            <a:lvl3pPr marL="1371600" lvl="2" indent="-94615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3pPr>
            <a:lvl4pPr marL="1828800" lvl="3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4pPr>
            <a:lvl5pPr marL="2286000" lvl="4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2100"/>
            </a:lvl5pPr>
            <a:lvl6pPr marL="2743200" lvl="5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6pPr>
            <a:lvl7pPr marL="3200400" lvl="6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7pPr>
            <a:lvl8pPr marL="3657600" lvl="7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8pPr>
            <a:lvl9pPr marL="4114800" lvl="8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9pPr>
          </a:lstStyle>
          <a:p/>
        </p:txBody>
      </p:sp>
      <p:sp>
        <p:nvSpPr>
          <p:cNvPr id="36" name="Google Shape;36;p23"/>
          <p:cNvSpPr txBox="1"/>
          <p:nvPr>
            <p:ph type="body" idx="2"/>
          </p:nvPr>
        </p:nvSpPr>
        <p:spPr>
          <a:xfrm>
            <a:off x="457202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37" name="Google Shape;37;p23"/>
          <p:cNvSpPr txBox="1"/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1792289" y="3600452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 panose="020F0502020204030204"/>
              <a:buNone/>
              <a:defRPr sz="21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/>
          <p:nvPr>
            <p:ph type="pic" idx="2"/>
          </p:nvPr>
        </p:nvSpPr>
        <p:spPr>
          <a:xfrm>
            <a:off x="1792289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4"/>
          <p:cNvSpPr txBox="1"/>
          <p:nvPr>
            <p:ph type="body" idx="1"/>
          </p:nvPr>
        </p:nvSpPr>
        <p:spPr>
          <a:xfrm>
            <a:off x="1792289" y="4025505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44" name="Google Shape;44;p24"/>
          <p:cNvSpPr txBox="1"/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type="body" idx="1"/>
          </p:nvPr>
        </p:nvSpPr>
        <p:spPr>
          <a:xfrm rot="5400000">
            <a:off x="2874751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 rot="5400000">
            <a:off x="5463751" y="1371630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type="body" idx="1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/>
          <a:stretch>
            <a:fillRect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 panose="020F0502020204030204"/>
              <a:buNone/>
              <a:defRPr sz="20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type="body" idx="1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marR="0" lvl="0" indent="-1187450" algn="l" rtl="0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 panose="020B0604020202020204"/>
              <a:buChar char="•"/>
              <a:defRPr sz="15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 panose="020B0604020202020204"/>
              <a:buChar char="–"/>
              <a:defRPr sz="1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946150" algn="l" rtl="0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 panose="020B0604020202020204"/>
              <a:buChar char="•"/>
              <a:defRPr sz="1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604020202020204"/>
              <a:buChar char="–"/>
              <a:defRPr sz="9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604020202020204"/>
              <a:buChar char="»"/>
              <a:defRPr sz="9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604020202020204"/>
              <a:buChar char="•"/>
              <a:defRPr sz="9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604020202020204"/>
              <a:buChar char="•"/>
              <a:defRPr sz="9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604020202020204"/>
              <a:buChar char="•"/>
              <a:defRPr sz="9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604020202020204"/>
              <a:buChar char="•"/>
              <a:defRPr sz="9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body" idx="1"/>
          </p:nvPr>
        </p:nvSpPr>
        <p:spPr>
          <a:xfrm>
            <a:off x="656908" y="2217658"/>
            <a:ext cx="7815262" cy="2661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None/>
            </a:pPr>
          </a:p>
          <a:p>
            <a:pPr marL="457200" lvl="0" indent="501650" algn="l" rtl="0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None/>
            </a:pPr>
          </a:p>
        </p:txBody>
      </p:sp>
      <p:sp>
        <p:nvSpPr>
          <p:cNvPr id="64" name="Google Shape;64;p2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5" name="Google Shape;65;p2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000000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66" name="Google Shape;66;p2"/>
          <p:cNvSpPr txBox="1"/>
          <p:nvPr>
            <p:ph type="title"/>
          </p:nvPr>
        </p:nvSpPr>
        <p:spPr>
          <a:xfrm>
            <a:off x="138224" y="69423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>
              <a:defRPr sz="2800" b="1">
                <a:latin typeface="Arial" panose="020B0604020202020204"/>
              </a:defRPr>
            </a:pPr>
            <a:r>
              <a:t>HealthConnect: Digital Healthcare Management Platform</a:t>
            </a:r>
          </a:p>
        </p:txBody>
      </p:sp>
      <p:sp>
        <p:nvSpPr>
          <p:cNvPr id="67" name="Google Shape;67;p2"/>
          <p:cNvSpPr txBox="1"/>
          <p:nvPr/>
        </p:nvSpPr>
        <p:spPr>
          <a:xfrm>
            <a:off x="267767" y="3265616"/>
            <a:ext cx="206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400">
                <a:latin typeface="Arial" panose="020B0604020202020204"/>
              </a:defRPr>
            </a:pPr>
            <a:r>
              <a:t>Student Details</a:t>
            </a:r>
          </a:p>
          <a:p>
            <a:pPr>
              <a:defRPr sz="1400">
                <a:latin typeface="Arial" panose="020B0604020202020204"/>
              </a:defRPr>
            </a:pPr>
            <a:r>
              <a:t>K. Rishith Reddy</a:t>
            </a:r>
          </a:p>
          <a:p>
            <a:pPr>
              <a:defRPr sz="1400">
                <a:latin typeface="Arial" panose="020B0604020202020204"/>
              </a:defRPr>
            </a:pPr>
            <a:r>
              <a:t>22EG1A0501</a:t>
            </a:r>
          </a:p>
        </p:txBody>
      </p:sp>
      <p:sp>
        <p:nvSpPr>
          <p:cNvPr id="68" name="Google Shape;68;p2"/>
          <p:cNvSpPr txBox="1"/>
          <p:nvPr/>
        </p:nvSpPr>
        <p:spPr>
          <a:xfrm>
            <a:off x="5470632" y="3239550"/>
            <a:ext cx="20705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400">
                <a:latin typeface="Arial" panose="020B0604020202020204"/>
              </a:defRPr>
            </a:pPr>
            <a:r>
              <a:t>Project Guide</a:t>
            </a:r>
          </a:p>
          <a:p>
            <a:pPr>
              <a:defRPr sz="1400">
                <a:latin typeface="Arial" panose="020B0604020202020204"/>
              </a:defRPr>
            </a:pPr>
            <a:r>
              <a:t>K. Mahesh</a:t>
            </a:r>
          </a:p>
          <a:p>
            <a:pPr>
              <a:defRPr sz="1400">
                <a:latin typeface="Arial" panose="020B0604020202020204"/>
              </a:defRPr>
            </a:pPr>
            <a:r>
              <a:t>Associate Professor, CSE</a:t>
            </a:r>
          </a:p>
        </p:txBody>
      </p:sp>
      <p:sp>
        <p:nvSpPr>
          <p:cNvPr id="69" name="Google Shape;69;p2"/>
          <p:cNvSpPr txBox="1"/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0" name="Google Shape;70;p2"/>
          <p:cNvSpPr txBox="1"/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Computer Science and Engineering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fld>
            <a:endParaRPr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000000"/>
              </a:solidFill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sp>
        <p:nvSpPr>
          <p:cNvPr id="77" name="Google Shape;77;p3"/>
          <p:cNvSpPr txBox="1"/>
          <p:nvPr>
            <p:ph type="title"/>
          </p:nvPr>
        </p:nvSpPr>
        <p:spPr>
          <a:xfrm>
            <a:off x="1053736" y="186377"/>
            <a:ext cx="61173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</a:pPr>
            <a:r>
              <a:rPr lang="en-US" sz="1600"/>
              <a:t>Index</a:t>
            </a:r>
            <a:endParaRPr sz="1600"/>
          </a:p>
        </p:txBody>
      </p:sp>
      <p:sp>
        <p:nvSpPr>
          <p:cNvPr id="78" name="Google Shape;78;p3"/>
          <p:cNvSpPr txBox="1"/>
          <p:nvPr/>
        </p:nvSpPr>
        <p:spPr>
          <a:xfrm>
            <a:off x="600705" y="595391"/>
            <a:ext cx="6656100" cy="46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Scope of the Project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System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System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 &amp; Hardware Requirements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System Design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Flowchart &amp; Algorithm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Modules Description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/ Output Screens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 &amp; Limitations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Future Enhancements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 </a:t>
            </a:r>
            <a:endParaRPr lang="en-US" sz="1400" b="0" i="0" u="none" strike="noStrike" cap="none">
              <a:solidFill>
                <a:srgbClr val="000000"/>
              </a:solidFill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sp>
        <p:nvSpPr>
          <p:cNvPr id="79" name="Google Shape;79;p3"/>
          <p:cNvSpPr txBox="1"/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0" name="Google Shape;80;p3"/>
          <p:cNvSpPr txBox="1"/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Computer Science and Engineering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SUMMMER INTERNSHIP</a:t>
            </a:r>
            <a:br>
              <a:rPr lang="en-US" sz="1600"/>
            </a:br>
            <a:endParaRPr lang="en-US" sz="1600"/>
          </a:p>
        </p:txBody>
      </p:sp>
      <p:sp>
        <p:nvSpPr>
          <p:cNvPr id="86" name="Google Shape;86;g3f2339eb39d_0_6"/>
          <p:cNvSpPr txBox="1"/>
          <p:nvPr>
            <p:ph type="body" idx="1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</p:spPr>
        <p:txBody>
          <a:bodyPr spcFirstLastPara="1" wrap="square" lIns="94100" tIns="47025" rIns="94100" bIns="47025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latin typeface="Arial" panose="020B0604020202020204"/>
              </a:defRPr>
            </a:pPr>
            <a:r>
              <a:t>Internship Objectives: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  <a:r>
              <a:t>• Gain hands-on MERN stack web development experience.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  <a:r>
              <a:t>• Implement secure, role-based workflows for clinical settings.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latin typeface="Arial" panose="020B0604020202020204"/>
              </a:defRPr>
            </a:pPr>
            <a:r>
              <a:t>Work Carried Out: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  <a:r>
              <a:t>• Built Patient features (Find Doctors, Slot Booking, Treatment Timeline, E-Prescriptions).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  <a:r>
              <a:t>• Built Doctor features (Clinician Dashboard, Consultation Workspace, Availability Builder).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  <a:r>
              <a:t>• Built Admin features (Verification Directory, Specialties Configuration).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latin typeface="Arial" panose="020B0604020202020204"/>
              </a:defRPr>
            </a:pPr>
            <a:r>
              <a:t>Technical Learning Outcomes: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  <a:r>
              <a:t>• Mastered React.js Context API state management and secure routing guards.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  <a:r>
              <a:t>• Implemented MongoDB database schemas and Mongoose REST controller endpoints.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latin typeface="Arial" panose="020B0604020202020204"/>
              </a:defRPr>
            </a:pPr>
            <a:r>
              <a:t>Challenges Faced: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  <a:r>
              <a:t>• Handling concurrent booking validation and real-time slot conflict resolution.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latin typeface="Arial" panose="020B0604020202020204"/>
              </a:defRPr>
            </a:pPr>
            <a:r>
              <a:t>Relevance to Curriculum: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latin typeface="Arial" panose="020B0604020202020204"/>
              </a:defRPr>
            </a:pPr>
            <a:r>
              <a:t>• Integrates core principles of Database Management Systems, Software Engineering, and Web Technologies.</a:t>
            </a:r>
          </a:p>
        </p:txBody>
      </p:sp>
      <p:sp>
        <p:nvSpPr>
          <p:cNvPr id="87" name="Google Shape;87;g3f2339eb39d_0_6"/>
          <p:cNvSpPr txBox="1"/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1.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29692"/>
            <a:ext cx="8229600" cy="3394500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SzPct val="99000"/>
              <a:defRPr sz="1400" b="0">
                <a:latin typeface="Arial" panose="020B0604020202020204"/>
              </a:defRPr>
            </a:pPr>
            <a:r>
              <a:rPr sz="1600"/>
              <a:t>HealthConnect is a comprehensive digital healthcare management platform.</a:t>
            </a:r>
            <a:endParaRPr sz="160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ct val="99000"/>
              <a:defRPr sz="1400" b="0">
                <a:latin typeface="Arial" panose="020B0604020202020204"/>
              </a:defRPr>
            </a:pPr>
            <a:endParaRPr sz="160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ct val="99000"/>
              <a:defRPr sz="1400" b="0">
                <a:latin typeface="Arial" panose="020B0604020202020204"/>
              </a:defRPr>
            </a:pPr>
            <a:r>
              <a:rPr sz="1600"/>
              <a:t>Built using the MERN stack (MongoDB, Express.js, React, Node.js).</a:t>
            </a:r>
            <a:endParaRPr sz="160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ct val="99000"/>
              <a:defRPr sz="1400" b="0">
                <a:latin typeface="Arial" panose="020B0604020202020204"/>
              </a:defRPr>
            </a:pPr>
            <a:endParaRPr sz="160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ct val="99000"/>
              <a:defRPr sz="1400" b="0">
                <a:latin typeface="Arial" panose="020B0604020202020204"/>
              </a:defRPr>
            </a:pPr>
            <a:r>
              <a:rPr sz="1600"/>
              <a:t>Establishes role-based environments for Patients, Doctors, and Administrators.</a:t>
            </a:r>
            <a:endParaRPr sz="160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ct val="99000"/>
              <a:defRPr sz="1400" b="0">
                <a:latin typeface="Arial" panose="020B0604020202020204"/>
              </a:defRPr>
            </a:pPr>
            <a:endParaRPr sz="160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ct val="99000"/>
              <a:defRPr sz="1400" b="0">
                <a:latin typeface="Arial" panose="020B0604020202020204"/>
              </a:defRPr>
            </a:pPr>
            <a:r>
              <a:rPr sz="1600"/>
              <a:t>Aims to replace paper-based methods with secure, real-time workflows.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2. 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SzPct val="100000"/>
              <a:defRPr sz="1400" b="0">
                <a:latin typeface="Arial" panose="020B0604020202020204"/>
              </a:defRPr>
            </a:pPr>
            <a:r>
              <a:t>Inefficiencies in traditional clinical operations due to paper registry books.</a:t>
            </a:r>
          </a:p>
          <a:p>
            <a:pPr marL="285750" indent="-285750">
              <a:buSzPct val="100000"/>
              <a:defRPr sz="1400" b="0">
                <a:latin typeface="Arial" panose="020B0604020202020204"/>
              </a:defRPr>
            </a:pPr>
            <a:r>
              <a:t>Manual appointment scheduling is highly prone to duplicate slots and errors.</a:t>
            </a:r>
          </a:p>
          <a:p>
            <a:pPr marL="285750" indent="-285750">
              <a:buSzPct val="100000"/>
              <a:defRPr sz="1400" b="0">
                <a:latin typeface="Arial" panose="020B0604020202020204"/>
              </a:defRPr>
            </a:pPr>
            <a:r>
              <a:t>Patient medical files are fragmented and lack longitudinal tracking.</a:t>
            </a:r>
          </a:p>
          <a:p>
            <a:pPr marL="285750" indent="-285750">
              <a:buSzPct val="100000"/>
              <a:defRPr sz="1400" b="0">
                <a:latin typeface="Arial" panose="020B0604020202020204"/>
              </a:defRPr>
            </a:pPr>
            <a:r>
              <a:t>Verifying medical credentials and clinician license listings is slow and manual.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3. Project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SzPct val="100000"/>
              <a:defRPr sz="1400" b="0">
                <a:latin typeface="Arial" panose="020B0604020202020204"/>
              </a:defRPr>
            </a:pPr>
            <a:r>
              <a:t>Automate the patient slot booking and schedule management process.</a:t>
            </a:r>
          </a:p>
          <a:p>
            <a:pPr marL="0" indent="0">
              <a:buSzPct val="100000"/>
              <a:defRPr sz="1400" b="0">
                <a:latin typeface="Arial" panose="020B0604020202020204"/>
              </a:defRPr>
            </a:pPr>
            <a:r>
              <a:t>Provide a secure digital medical folder for file uploads.</a:t>
            </a:r>
          </a:p>
          <a:p>
            <a:pPr marL="0" indent="0">
              <a:buSzPct val="100000"/>
              <a:defRPr sz="1400" b="0">
                <a:latin typeface="Arial" panose="020B0604020202020204"/>
              </a:defRPr>
            </a:pPr>
            <a:r>
              <a:t>Compile consultations, checkups, and prescriptions into a chronological timeline.</a:t>
            </a:r>
          </a:p>
          <a:p>
            <a:pPr marL="0" indent="0">
              <a:buSzPct val="100000"/>
              <a:defRPr sz="1400" b="0">
                <a:latin typeface="Arial" panose="020B0604020202020204"/>
              </a:defRPr>
            </a:pPr>
            <a:r>
              <a:t>Provide doctors with a digital workspace to submit e-prescriptions.</a:t>
            </a:r>
          </a:p>
          <a:p>
            <a:pPr marL="0" indent="0">
              <a:buSzPct val="100000"/>
              <a:defRPr sz="1400" b="0">
                <a:latin typeface="Arial" panose="020B0604020202020204"/>
              </a:defRPr>
            </a:pPr>
            <a:r>
              <a:t>Allow administrators to audit, verify, and manage doctor listings.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4. Scope of the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SzPct val="99000"/>
              <a:defRPr sz="1400" b="0">
                <a:latin typeface="Arial" panose="020B0604020202020204"/>
              </a:defRPr>
            </a:pPr>
            <a:r>
              <a:t>Patient Module: Doctor search, interactive slot booking, health folder, timelines.</a:t>
            </a:r>
          </a:p>
          <a:p>
            <a:pPr marL="285750" indent="-285750">
              <a:buSzPct val="99000"/>
              <a:defRPr sz="1400" b="0">
                <a:latin typeface="Arial" panose="020B0604020202020204"/>
              </a:defRPr>
            </a:pPr>
            <a:r>
              <a:t>Doctor Module: Availability slot builder, consult manager, prescription rows.</a:t>
            </a:r>
          </a:p>
          <a:p>
            <a:pPr marL="285750" indent="-285750">
              <a:buSzPct val="99000"/>
              <a:defRPr sz="1400" b="0">
                <a:latin typeface="Arial" panose="020B0604020202020204"/>
              </a:defRPr>
            </a:pPr>
            <a:r>
              <a:t>Admin Module: specialties configurations, doctor sign-up approval, user registries.</a:t>
            </a:r>
          </a:p>
          <a:p>
            <a:pPr marL="285750" indent="-285750">
              <a:buSzPct val="99000"/>
              <a:defRPr sz="1400" b="0">
                <a:latin typeface="Arial" panose="020B0604020202020204"/>
              </a:defRPr>
            </a:pPr>
            <a:r>
              <a:t>Authentication Module: Secure sign-up/login with BCrypt and JWT.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5. Existing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99000"/>
              <a:defRPr sz="1400" b="0">
                <a:latin typeface="Arial" panose="020B0604020202020204"/>
              </a:defRPr>
            </a:pPr>
            <a:r>
              <a:t>Physical record registers and paper filing cabinets.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Appointment bookings handled via phone calls, causing delays.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Hand-written prescriptions, leading to readability and pharmacy issues.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Lack of centralized, accessible historical data for patients and clinics.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6. Proposed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99000"/>
              <a:defRPr sz="1400" b="0">
                <a:latin typeface="Arial" panose="020B0604020202020204"/>
              </a:defRPr>
            </a:pPr>
            <a:r>
              <a:t>Centralized MongoDB cloud/local database storing all clinical records.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Real-time appointment slot locking to eliminate scheduling errors.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Chronological medical timelines compiling doctor visits and scans.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Verified-only clinician registry ensuring safe healthcare practices.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7. Software &amp; Hardware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99000"/>
              <a:defRPr sz="1400" b="0">
                <a:latin typeface="Arial" panose="020B0604020202020204"/>
              </a:defRPr>
            </a:pPr>
            <a:r>
              <a:t>Operating System: Windows 10/11 or Linux.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Frontend: React.js (Vite, Lucide Icons, Axios).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Backend: Node.js, Express.js, JWT, BCrypt.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Database: MongoDB Community Server.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Hardware: Intel Core i5 CPU, 8 GB RAM, 256 GB SSD, Internet connection.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8. System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99000"/>
              <a:defRPr sz="1400" b="0">
                <a:latin typeface="Arial" panose="020B0604020202020204"/>
              </a:defRPr>
            </a:pPr>
            <a:r>
              <a:t>3-Tier Architecture: Presentation (React), Logic (Node/Express), Data (MongoDB).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Users Schema: Handles login credentials, profile details, and role type.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Doctors Schema: Handles fees, bio, specialization, verification, and active slots.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Appointments Schema: Links patient, doctor, status, notes, and prescriptions.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9. Flowchart &amp; Algorithm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99000"/>
              <a:defRPr sz="1400" b="0">
                <a:latin typeface="Arial" panose="020B0604020202020204"/>
              </a:defRPr>
            </a:pPr>
            <a:r>
              <a:t>Booking Algorithm: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1. Patient logs in and searches for clinicians by specialty.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2. Patient selects tomorrow's date and views free slots.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3. System queries database to ensure slot is not booked.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4. Patient submits symptom note; booking is saved as pending and locked.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10. Modules Description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99000"/>
              <a:defRPr sz="1400" b="0">
                <a:latin typeface="Arial" panose="020B0604020202020204"/>
              </a:defRPr>
            </a:pPr>
            <a:r>
              <a:t>Authentication Module: Session state validation, JWT generation, hashing.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Patient Module: Interactive slot schedules, timeline visual feed, PDF uploads.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Doctor Module: Patient directories, consult builder, availability calendars.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Admin Module: Account directories, verification queues, specialty settings.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11. 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99000"/>
              <a:defRPr sz="1400" b="0">
                <a:latin typeface="Arial" panose="020B0604020202020204"/>
              </a:defRPr>
            </a:pPr>
            <a:r>
              <a:t>React frontend using Axios to make asynchronous API calls.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Express server handling API endpoints and verifying roles via middleware.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Mongoose ODM enforcing collection validations.</a:t>
            </a:r>
          </a:p>
          <a:p>
            <a:pPr>
              <a:buSzPct val="99000"/>
              <a:defRPr sz="1400" b="0">
                <a:latin typeface="Arial" panose="020B0604020202020204"/>
              </a:defRPr>
            </a:pPr>
            <a:r>
              <a:t>Protected routing guards preventing unauthorized path access.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12. Results / Output Screens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0">
                <a:latin typeface="Arial" panose="020B0604020202020204"/>
              </a:defRPr>
            </a:pPr>
            <a:r>
              <a:t>Patient slot bookings correctly lock in the database.</a:t>
            </a:r>
          </a:p>
          <a:p>
            <a:pPr>
              <a:defRPr sz="1400" b="0">
                <a:latin typeface="Arial" panose="020B0604020202020204"/>
              </a:defRPr>
            </a:pPr>
            <a:r>
              <a:t>Clinician workspace successfully compiles and logs consultation notes.</a:t>
            </a:r>
          </a:p>
          <a:p>
            <a:pPr>
              <a:defRPr sz="1400" b="0">
                <a:latin typeface="Arial" panose="020B0604020202020204"/>
              </a:defRPr>
            </a:pPr>
            <a:r>
              <a:t>E-prescriptions dynamically render medicine dosage lists with mock print.</a:t>
            </a:r>
          </a:p>
          <a:p>
            <a:pPr>
              <a:defRPr sz="1400" b="0">
                <a:latin typeface="Arial" panose="020B0604020202020204"/>
              </a:defRPr>
            </a:pPr>
            <a:r>
              <a:t>Admin dashboard reflects verified and pending accounts.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13. Advantages &amp; 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0">
                <a:latin typeface="Arial" panose="020B0604020202020204"/>
              </a:defRPr>
            </a:pPr>
            <a:r>
              <a:t>Advantages: Automatic scheduling, record centralization, secure audits.</a:t>
            </a:r>
          </a:p>
          <a:p>
            <a:pPr>
              <a:defRPr sz="1400" b="0">
                <a:latin typeface="Arial" panose="020B0604020202020204"/>
              </a:defRPr>
            </a:pPr>
            <a:r>
              <a:t>Limitations: Continuous internet reliance, local-only deployment, mock pharmacy integration.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14. Future Enhancements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0">
                <a:latin typeface="Arial" panose="020B0604020202020204"/>
              </a:defRPr>
            </a:pPr>
            <a:r>
              <a:t>Integrated video consulting sessions using WebRTC.</a:t>
            </a:r>
          </a:p>
          <a:p>
            <a:pPr>
              <a:defRPr sz="1400" b="0">
                <a:latin typeface="Arial" panose="020B0604020202020204"/>
              </a:defRPr>
            </a:pPr>
            <a:r>
              <a:t>Online payment gateway integration (Razorpay/Stripe) for booking fees.</a:t>
            </a:r>
          </a:p>
          <a:p>
            <a:pPr>
              <a:defRPr sz="1400" b="0">
                <a:latin typeface="Arial" panose="020B0604020202020204"/>
              </a:defRPr>
            </a:pPr>
            <a:r>
              <a:t>AI-based symptom categorizer to guide specialty selection.</a:t>
            </a:r>
          </a:p>
          <a:p>
            <a:pPr>
              <a:defRPr sz="1400" b="0">
                <a:latin typeface="Arial" panose="020B0604020202020204"/>
              </a:defRPr>
            </a:pPr>
            <a:r>
              <a:t>Automated push/SMS notifications for scheduled follow-ups.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15.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0">
                <a:latin typeface="Arial" panose="020B0604020202020204"/>
              </a:defRPr>
            </a:pPr>
            <a:r>
              <a:t>HealthConnect successfully digitizes clinic schedule management and records.</a:t>
            </a:r>
          </a:p>
          <a:p>
            <a:pPr>
              <a:defRPr sz="1400" b="0">
                <a:latin typeface="Arial" panose="020B0604020202020204"/>
              </a:defRPr>
            </a:pPr>
            <a:r>
              <a:t>The MERN stack provides a highly responsive, single-page application experience.</a:t>
            </a:r>
          </a:p>
          <a:p>
            <a:pPr>
              <a:defRPr sz="1400" b="0">
                <a:latin typeface="Arial" panose="020B0604020202020204"/>
              </a:defRPr>
            </a:pPr>
            <a:r>
              <a:t>The project meets all requirements, bridging gaps between patients and doctors.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 panose="020B0604020202020204"/>
              </a:defRPr>
            </a:pPr>
            <a:r>
              <a:t>16. 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0">
                <a:latin typeface="Arial" panose="020B0604020202020204"/>
              </a:defRPr>
            </a:pPr>
            <a:r>
              <a:t>1. MongoDB Community Server Manual: https://docs.mongodb.com</a:t>
            </a:r>
          </a:p>
          <a:p>
            <a:pPr>
              <a:defRPr sz="1400" b="0">
                <a:latin typeface="Arial" panose="020B0604020202020204"/>
              </a:defRPr>
            </a:pPr>
            <a:r>
              <a:t>2. Express.js Routing Guide: https://expressjs.com</a:t>
            </a:r>
          </a:p>
          <a:p>
            <a:pPr>
              <a:defRPr sz="1400" b="0">
                <a:latin typeface="Arial" panose="020B0604020202020204"/>
              </a:defRPr>
            </a:pPr>
            <a:r>
              <a:t>3. React.js Context API: https://react.dev</a:t>
            </a:r>
          </a:p>
          <a:p>
            <a:pPr>
              <a:defRPr sz="1400" b="0">
                <a:latin typeface="Arial" panose="020B0604020202020204"/>
              </a:defRPr>
            </a:pPr>
            <a:r>
              <a:t>4. Node.js Runtime Reference: https://nodejs.org</a:t>
            </a:r>
          </a:p>
          <a:p>
            <a:pPr>
              <a:defRPr sz="1400" b="0">
                <a:latin typeface="Arial" panose="020B0604020202020204"/>
              </a:defRPr>
            </a:pPr>
            <a:r>
              <a:t>5. Lucide React Icon Kit: https://lucide.dev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5914</Words>
  <Application>WPS Presentation</Application>
  <PresentationFormat/>
  <Paragraphs>179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Noto Sans Symbols</vt:lpstr>
      <vt:lpstr>Trebuchet MS</vt:lpstr>
      <vt:lpstr>Bookman Old Style</vt:lpstr>
      <vt:lpstr>Times New Roman</vt:lpstr>
      <vt:lpstr>Microsoft YaHei</vt:lpstr>
      <vt:lpstr>Arial Unicode MS</vt:lpstr>
      <vt:lpstr>Segoe Print</vt:lpstr>
      <vt:lpstr>Wingdings</vt:lpstr>
      <vt:lpstr>1_Office Theme</vt:lpstr>
      <vt:lpstr>HealthConnect: Digital Healthcare Management Platform</vt:lpstr>
      <vt:lpstr>Index</vt:lpstr>
      <vt:lpstr>PowerPoint 演示文稿</vt:lpstr>
      <vt:lpstr>1. Introduction</vt:lpstr>
      <vt:lpstr>2. Problem Statement</vt:lpstr>
      <vt:lpstr>3. Project Objectives</vt:lpstr>
      <vt:lpstr>4. Scope of the Project</vt:lpstr>
      <vt:lpstr>5. Existing System</vt:lpstr>
      <vt:lpstr>6. Proposed System</vt:lpstr>
      <vt:lpstr>7. Software &amp; Hardware Requirements</vt:lpstr>
      <vt:lpstr>8. System Design</vt:lpstr>
      <vt:lpstr>9. Flowchart &amp; Algorithm</vt:lpstr>
      <vt:lpstr>10. Modules Description</vt:lpstr>
      <vt:lpstr>11. Implementation</vt:lpstr>
      <vt:lpstr>12. Results / Output Screens</vt:lpstr>
      <vt:lpstr>13. Advantages &amp; Limitations</vt:lpstr>
      <vt:lpstr>14. Future Enhancements</vt:lpstr>
      <vt:lpstr>15. Conclusion</vt:lpstr>
      <vt:lpstr>16.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HealthConnect: Digital Healthcare Management Platform</dc:title>
  <dc:creator>Raj</dc:creator>
  <cp:lastModifiedBy>Dell</cp:lastModifiedBy>
  <cp:revision>2</cp:revision>
  <dcterms:created xsi:type="dcterms:W3CDTF">2026-07-01T04:19:00Z</dcterms:created>
  <dcterms:modified xsi:type="dcterms:W3CDTF">2026-07-01T09:44:57Z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BC6BF4121E884833A58554762AB892A8_12</vt:lpwstr>
  </property>
</Properties>
</file>